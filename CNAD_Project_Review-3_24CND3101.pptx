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905" r:id="rId10"/>
    <p:sldId id="260" r:id="rId11"/>
    <p:sldId id="90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CE56D7-5972-4343-B89C-1C109D5EEE00}" v="4" dt="2026-10-27T12:38:04.9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27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27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27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27 October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27 October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27 October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27 October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27 October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27 October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27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27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27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28-10-2026, 8:00 AM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7239424"/>
              </p:ext>
            </p:extLst>
          </p:nvPr>
        </p:nvGraphicFramePr>
        <p:xfrm>
          <a:off x="7855974" y="4958897"/>
          <a:ext cx="3827204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7204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Nitish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2420030642</a:t>
                      </a:r>
                      <a:b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Kamalesh</a:t>
                      </a:r>
                      <a:b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2420030156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Moukshitha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2420030164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7740854" y="4774125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877806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Mrs.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V.Vinisha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CNAD Project Review-2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Cloud-Native Employee Attendance and Leave Management System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693212" y="2295073"/>
            <a:ext cx="107156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Review-3</a:t>
            </a:r>
          </a:p>
          <a:p>
            <a:pPr lvl="0" algn="ctr">
              <a:defRPr/>
            </a:pPr>
            <a:endParaRPr lang="en-IN" sz="2000" dirty="0">
              <a:solidFill>
                <a:srgbClr val="15608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28-10-2026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91898"/>
            <a:ext cx="4114800" cy="365125"/>
          </a:xfrm>
        </p:spPr>
        <p:txBody>
          <a:bodyPr/>
          <a:lstStyle/>
          <a:p>
            <a:pPr defTabSz="457200">
              <a:defRPr/>
            </a:pPr>
            <a:r>
              <a:rPr lang="en-IN" dirty="0">
                <a:solidFill>
                  <a:prstClr val="black">
                    <a:tint val="75000"/>
                  </a:prstClr>
                </a:solidFill>
              </a:rPr>
              <a:t>CNAD Project Review-3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37160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>
                <a:solidFill>
                  <a:srgbClr val="595959"/>
                </a:solidFill>
                <a:latin typeface="Calibri"/>
              </a:rPr>
              <a:t>Attendance and leave management are core HR functions, but legacy registers, spreadsheets, and monolithic on-premise apps are tightly coupled and hard to scale.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23160"/>
            <a:ext cx="3511296" cy="278892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noFill/>
          </a:ln>
          <a:effectLst>
            <a:outerShdw blurRad="90000" dist="30000" dir="5400000" rotWithShape="0">
              <a:srgbClr val="1B1B1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2606040"/>
            <a:ext cx="299923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C7DCEA"/>
                </a:solidFill>
                <a:latin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200400"/>
            <a:ext cx="29992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0E2841"/>
                </a:solidFill>
                <a:latin typeface="Cambria"/>
              </a:rPr>
              <a:t>Load Spikes Overwhelm Monoliths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840480"/>
            <a:ext cx="2999232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Hundreds of employees marking attendance at shift start, or applying for leave at month-end, strain tightly-coupled on-premise systems.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5" y="2423160"/>
            <a:ext cx="3511296" cy="278892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noFill/>
          </a:ln>
          <a:effectLst>
            <a:outerShdw blurRad="90000" dist="30000" dir="5400000" rotWithShape="0">
              <a:srgbClr val="1B1B1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2606040"/>
            <a:ext cx="299923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C7DCEA"/>
                </a:solidFill>
                <a:latin typeface="Cambr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3200400"/>
            <a:ext cx="29992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0E2841"/>
                </a:solidFill>
                <a:latin typeface="Cambria"/>
              </a:rPr>
              <a:t>Downtime for Every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3840480"/>
            <a:ext cx="2999232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Even a minor bug fix or feature update in a monolithic application typically requires taking the entire system offline.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1" y="2423160"/>
            <a:ext cx="3511296" cy="278892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noFill/>
          </a:ln>
          <a:effectLst>
            <a:outerShdw blurRad="90000" dist="30000" dir="5400000" rotWithShape="0">
              <a:srgbClr val="1B1B1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75903" y="2606040"/>
            <a:ext cx="299923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C7DCEA"/>
                </a:solidFill>
                <a:latin typeface="Cambr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3" y="3200400"/>
            <a:ext cx="29992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0E2841"/>
                </a:solidFill>
                <a:latin typeface="Cambria"/>
              </a:rPr>
              <a:t>Manual Approvals, No Visibility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3" y="3840480"/>
            <a:ext cx="2999232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Manual approval chains and lack of real-time visibility into attendance and leave balances cause payroll errors and delayed approvals.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490D57B-CD37-059F-AC7D-377EC93A1CCB}"/>
              </a:ext>
            </a:extLst>
          </p:cNvPr>
          <p:cNvSpPr/>
          <p:nvPr/>
        </p:nvSpPr>
        <p:spPr>
          <a:xfrm>
            <a:off x="3740431" y="311275"/>
            <a:ext cx="410512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37160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>
                <a:solidFill>
                  <a:srgbClr val="595959"/>
                </a:solidFill>
                <a:latin typeface="Calibri"/>
              </a:rPr>
              <a:t>Design and implement a resilient, independently scalable Employee Attendance and Leave Management System using cloud-native and DevOps principles.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2121408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2103120"/>
            <a:ext cx="9464040" cy="676656"/>
          </a:xfrm>
          <a:prstGeom prst="roundRect">
            <a:avLst>
              <a:gd name="adj" fmla="val 18000"/>
            </a:avLst>
          </a:prstGeom>
          <a:solidFill>
            <a:srgbClr val="F4F7F9"/>
          </a:solidFill>
          <a:ln>
            <a:noFill/>
          </a:ln>
          <a:effectLst>
            <a:outerShdw blurRad="90000" dist="30000" dir="5400000" rotWithShape="0">
              <a:srgbClr val="1B1B1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00200" y="2103120"/>
            <a:ext cx="896112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Decompose the system into independently deployable microservices — Employee/Auth, Attendance, Leave Management, and Notification.</a:t>
            </a:r>
          </a:p>
        </p:txBody>
      </p:sp>
      <p:sp>
        <p:nvSpPr>
          <p:cNvPr id="10" name="Oval 9"/>
          <p:cNvSpPr/>
          <p:nvPr/>
        </p:nvSpPr>
        <p:spPr>
          <a:xfrm>
            <a:off x="676656" y="2944368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2926079"/>
            <a:ext cx="9464040" cy="676656"/>
          </a:xfrm>
          <a:prstGeom prst="roundRect">
            <a:avLst>
              <a:gd name="adj" fmla="val 18000"/>
            </a:avLst>
          </a:prstGeom>
          <a:solidFill>
            <a:srgbClr val="F4F7F9"/>
          </a:solidFill>
          <a:ln>
            <a:noFill/>
          </a:ln>
          <a:effectLst>
            <a:outerShdw blurRad="90000" dist="30000" dir="5400000" rotWithShape="0">
              <a:srgbClr val="1B1B1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00200" y="2926079"/>
            <a:ext cx="896112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Containerize each microservice with Docker and orchestrate on Kubernetes for autoscaling, self-healing, and rolling updates.</a:t>
            </a:r>
          </a:p>
        </p:txBody>
      </p:sp>
      <p:sp>
        <p:nvSpPr>
          <p:cNvPr id="13" name="Oval 12"/>
          <p:cNvSpPr/>
          <p:nvPr/>
        </p:nvSpPr>
        <p:spPr>
          <a:xfrm>
            <a:off x="676656" y="3767328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25880" y="3749039"/>
            <a:ext cx="9464040" cy="676656"/>
          </a:xfrm>
          <a:prstGeom prst="roundRect">
            <a:avLst>
              <a:gd name="adj" fmla="val 18000"/>
            </a:avLst>
          </a:prstGeom>
          <a:solidFill>
            <a:srgbClr val="F4F7F9"/>
          </a:solidFill>
          <a:ln>
            <a:noFill/>
          </a:ln>
          <a:effectLst>
            <a:outerShdw blurRad="90000" dist="30000" dir="5400000" rotWithShape="0">
              <a:srgbClr val="1B1B1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00200" y="3749039"/>
            <a:ext cx="896112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Front the services with an API Gateway handling routing, auth-token validation, and rate limiting.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" y="4590288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25880" y="4572000"/>
            <a:ext cx="9464040" cy="676656"/>
          </a:xfrm>
          <a:prstGeom prst="roundRect">
            <a:avLst>
              <a:gd name="adj" fmla="val 18000"/>
            </a:avLst>
          </a:prstGeom>
          <a:solidFill>
            <a:srgbClr val="F4F7F9"/>
          </a:solidFill>
          <a:ln>
            <a:noFill/>
          </a:ln>
          <a:effectLst>
            <a:outerShdw blurRad="90000" dist="30000" dir="5400000" rotWithShape="0">
              <a:srgbClr val="1B1B1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00200" y="4572000"/>
            <a:ext cx="896112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Enable QR-code and web-based check-in/check-out plus a configurable manager-approval workflow for leave.</a:t>
            </a:r>
          </a:p>
        </p:txBody>
      </p:sp>
      <p:sp>
        <p:nvSpPr>
          <p:cNvPr id="19" name="Oval 18"/>
          <p:cNvSpPr/>
          <p:nvPr/>
        </p:nvSpPr>
        <p:spPr>
          <a:xfrm>
            <a:off x="676656" y="5413248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25880" y="5394960"/>
            <a:ext cx="9464040" cy="676656"/>
          </a:xfrm>
          <a:prstGeom prst="roundRect">
            <a:avLst>
              <a:gd name="adj" fmla="val 18000"/>
            </a:avLst>
          </a:prstGeom>
          <a:solidFill>
            <a:srgbClr val="F4F7F9"/>
          </a:solidFill>
          <a:ln>
            <a:noFill/>
          </a:ln>
          <a:effectLst>
            <a:outerShdw blurRad="90000" dist="30000" dir="5400000" rotWithShape="0">
              <a:srgbClr val="1B1B1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00200" y="5394960"/>
            <a:ext cx="896112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Automate build, test, and deployment through a CI/CD pipeline with infrastructure as code and centralized monitoring.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94700C6-CDD3-566C-F8C3-E6EA3BFC6709}"/>
              </a:ext>
            </a:extLst>
          </p:cNvPr>
          <p:cNvSpPr/>
          <p:nvPr/>
        </p:nvSpPr>
        <p:spPr>
          <a:xfrm>
            <a:off x="4043440" y="407057"/>
            <a:ext cx="410512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012633"/>
              </p:ext>
            </p:extLst>
          </p:nvPr>
        </p:nvGraphicFramePr>
        <p:xfrm>
          <a:off x="274646" y="689466"/>
          <a:ext cx="11642705" cy="463905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Carrón (2022) – Journal of Grid Computing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Kubernetes as a Standard Container Orchestrator: A Bibliometric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Bibliometric analysis of 803 Web of Science articles (2014–2022) using Bibliometrix.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Confirms Kubernetes as the de-facto orchestrator for microservice-based systems; maps dominant research themes.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Survey-level only; does not benchmark orchestration performance empirically.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ACM Computing Surveys (2022)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Kubernetes Scheduling: Taxonomy, Ongoing Issues and Challenges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Structured literature review (2016–2022) building a top-down taxonomy across infrastructure, application and performance domains.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Useful for understanding how independently deployed services (like Attendance/Leave) get scheduled and scaled.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Focused on scheduling only; networking and storage concerns left out of scope.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Marchese &amp; Tomarchio (2024) – CLOSER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Load-Aware Container Orchestration on Kubernetes Clusters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Proposes and experimentally evaluates a load-aware scheduling extension to the default scheduler.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Directly relevant to handling attendance/leave load spikes: load-aware placement reduces hotspots vs. default scheduling.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Evaluated on a limited cluster testbed; large-scale multi-cloud validation left for future work.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CNAD Project Review-3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DB89F3A-7A30-1996-0917-29DB2F0B1AA8}"/>
              </a:ext>
            </a:extLst>
          </p:cNvPr>
          <p:cNvSpPr/>
          <p:nvPr/>
        </p:nvSpPr>
        <p:spPr>
          <a:xfrm>
            <a:off x="4038600" y="14409"/>
            <a:ext cx="4105120" cy="59373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48132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>
                <a:solidFill>
                  <a:srgbClr val="595959"/>
                </a:solidFill>
                <a:latin typeface="Calibri"/>
              </a:rPr>
              <a:t>Existing HR platforms rarely apply cloud-native engineering to a routine workflow — leaving a practical gap this project addresses.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23160"/>
            <a:ext cx="5257800" cy="141732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noFill/>
          </a:ln>
          <a:effectLst>
            <a:outerShdw blurRad="90000" dist="30000" dir="5400000" rotWithShape="0">
              <a:srgbClr val="1B1B1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77240" y="2948939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587752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0E2841"/>
                </a:solidFill>
                <a:latin typeface="Cambria"/>
              </a:rPr>
              <a:t>Monolithic HR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953512"/>
            <a:ext cx="4251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Most conventional attendance/leave tools ship as a single tightly-coupled codebase that cannot scale one function independently of another.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59" y="2423160"/>
            <a:ext cx="5257800" cy="141732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noFill/>
          </a:ln>
          <a:effectLst>
            <a:outerShdw blurRad="90000" dist="30000" dir="5400000" rotWithShape="0">
              <a:srgbClr val="1B1B1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309359" y="2948939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7999" y="2587752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0E2841"/>
                </a:solidFill>
                <a:latin typeface="Cambria"/>
              </a:rPr>
              <a:t>No Database-per-Service Isolation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7999" y="2953512"/>
            <a:ext cx="4251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Shared databases across HR functions make it hard to isolate failures or evolve one service without risking the others.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114800"/>
            <a:ext cx="5257800" cy="141732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noFill/>
          </a:ln>
          <a:effectLst>
            <a:outerShdw blurRad="90000" dist="30000" dir="5400000" rotWithShape="0">
              <a:srgbClr val="1B1B1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77240" y="4640580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279392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0E2841"/>
                </a:solidFill>
                <a:latin typeface="Cambria"/>
              </a:rPr>
              <a:t>Synchronous-Only Communication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645152"/>
            <a:ext cx="4251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Without event-driven design, a slow notification or approval step can block core actions like attendance logging.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59" y="4114800"/>
            <a:ext cx="5257800" cy="141732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noFill/>
          </a:ln>
          <a:effectLst>
            <a:outerShdw blurRad="90000" dist="30000" dir="5400000" rotWithShape="0">
              <a:srgbClr val="1B1B1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309359" y="4640580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7999" y="4279392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0E2841"/>
                </a:solidFill>
                <a:latin typeface="Cambria"/>
              </a:rPr>
              <a:t>Manual Ops, No IaC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7999" y="4645152"/>
            <a:ext cx="4251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Deployments and environment setup are rarely automated, so staging and production configurations drift apart.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BCAA6F7-EECE-D20D-2DC5-F79EF7ECD6F9}"/>
              </a:ext>
            </a:extLst>
          </p:cNvPr>
          <p:cNvSpPr/>
          <p:nvPr/>
        </p:nvSpPr>
        <p:spPr>
          <a:xfrm>
            <a:off x="3263830" y="365159"/>
            <a:ext cx="525828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 Gap Identification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01D0540-CAD3-7B31-DFF2-BB8056D1304E}"/>
              </a:ext>
            </a:extLst>
          </p:cNvPr>
          <p:cNvSpPr/>
          <p:nvPr/>
        </p:nvSpPr>
        <p:spPr>
          <a:xfrm>
            <a:off x="2837320" y="268328"/>
            <a:ext cx="6303999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Innovation, Creativity, and Novelty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79098F-DF99-B895-8DBE-121CA7B64455}"/>
              </a:ext>
            </a:extLst>
          </p:cNvPr>
          <p:cNvSpPr txBox="1"/>
          <p:nvPr/>
        </p:nvSpPr>
        <p:spPr>
          <a:xfrm>
            <a:off x="1052052" y="1566085"/>
            <a:ext cx="1008789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project applies cloud-native engineering concepts to employee attendance and leave management.</a:t>
            </a:r>
          </a:p>
          <a:p>
            <a:pPr algn="just">
              <a:buNone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Microservices Architecture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Separates employee authentication, attendance, leave management, and notifications into independent 	services.</a:t>
            </a:r>
          </a:p>
          <a:p>
            <a:pPr algn="just"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Database-per-Service Approach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Supports independent data management for different services.</a:t>
            </a:r>
          </a:p>
          <a:p>
            <a:pPr algn="just"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Event-Driven Notifications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Allows notification processing to be separated from core attendance and leave operations.</a:t>
            </a:r>
          </a:p>
          <a:p>
            <a:pPr algn="just"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Containerization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Docker provides a consistent environment for packaging application services.</a:t>
            </a:r>
          </a:p>
          <a:p>
            <a:pPr algn="just"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Kubernetes Orchestration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Supports container orchestration and provides capabilities such as self-healing and scaling.</a:t>
            </a:r>
          </a:p>
          <a:p>
            <a:pPr algn="just"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CI/CD Automation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Automates application build, testing, and deployment processes.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49B0EE5-93AF-2F8B-205A-1626B56935CB}"/>
              </a:ext>
            </a:extLst>
          </p:cNvPr>
          <p:cNvSpPr/>
          <p:nvPr/>
        </p:nvSpPr>
        <p:spPr>
          <a:xfrm>
            <a:off x="2837320" y="268328"/>
            <a:ext cx="6303999" cy="708443"/>
          </a:xfrm>
          <a:prstGeom prst="roundRect">
            <a:avLst/>
          </a:prstGeom>
          <a:solidFill>
            <a:srgbClr val="C00000"/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US" sz="2800" b="1" dirty="0">
              <a:ln w="0"/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02A0A2-E1B8-43DE-0694-6A674D6CC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8907" y="1122474"/>
            <a:ext cx="6082412" cy="555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512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50876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>
                <a:solidFill>
                  <a:srgbClr val="595959"/>
                </a:solidFill>
                <a:latin typeface="Calibri"/>
              </a:rPr>
              <a:t>The system is feasible on a standard Kubernetes cluster and follows an eight-week, service-by-service delivery plan.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59" y="3227832"/>
            <a:ext cx="8595361" cy="0"/>
          </a:xfrm>
          <a:prstGeom prst="line">
            <a:avLst/>
          </a:prstGeom>
          <a:ln w="3175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94359" y="2999232"/>
            <a:ext cx="457200" cy="4572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87752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Cambria"/>
              </a:rPr>
              <a:t>Wk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0E2841"/>
                </a:solidFill>
                <a:latin typeface="Cambria"/>
              </a:rPr>
              <a:t>Auth &amp; Employee Svc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23360"/>
            <a:ext cx="19659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22222"/>
                </a:solidFill>
                <a:latin typeface="Calibri"/>
              </a:rPr>
              <a:t>Employee/Auth service, database schema, API Gateway skeleton.</a:t>
            </a:r>
          </a:p>
        </p:txBody>
      </p:sp>
      <p:sp>
        <p:nvSpPr>
          <p:cNvPr id="12" name="Oval 11"/>
          <p:cNvSpPr/>
          <p:nvPr/>
        </p:nvSpPr>
        <p:spPr>
          <a:xfrm>
            <a:off x="2743200" y="2999232"/>
            <a:ext cx="457200" cy="4572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587752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Cambria"/>
              </a:rPr>
              <a:t>Wk 3–4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356616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0E2841"/>
                </a:solidFill>
                <a:latin typeface="Cambria"/>
              </a:rPr>
              <a:t>Attendance &amp; Leave Svc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4023360"/>
            <a:ext cx="19659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22222"/>
                </a:solidFill>
                <a:latin typeface="Calibri"/>
              </a:rPr>
              <a:t>Check-in/QR workflows; leave apply, balance &amp; approval logic.</a:t>
            </a:r>
          </a:p>
        </p:txBody>
      </p:sp>
      <p:sp>
        <p:nvSpPr>
          <p:cNvPr id="16" name="Oval 15"/>
          <p:cNvSpPr/>
          <p:nvPr/>
        </p:nvSpPr>
        <p:spPr>
          <a:xfrm>
            <a:off x="4892040" y="2999232"/>
            <a:ext cx="457200" cy="4572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587752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Cambria"/>
              </a:rPr>
              <a:t>Wk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56616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0E2841"/>
                </a:solidFill>
                <a:latin typeface="Cambria"/>
              </a:rPr>
              <a:t>Events &amp; Notify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023360"/>
            <a:ext cx="19659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22222"/>
                </a:solidFill>
                <a:latin typeface="Calibri"/>
              </a:rPr>
              <a:t>Message broker integration; Notification service for alerts.</a:t>
            </a:r>
          </a:p>
        </p:txBody>
      </p:sp>
      <p:sp>
        <p:nvSpPr>
          <p:cNvPr id="20" name="Oval 19"/>
          <p:cNvSpPr/>
          <p:nvPr/>
        </p:nvSpPr>
        <p:spPr>
          <a:xfrm>
            <a:off x="7040880" y="2999232"/>
            <a:ext cx="457200" cy="4572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587752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Cambria"/>
              </a:rPr>
              <a:t>Wk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356616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0E2841"/>
                </a:solidFill>
                <a:latin typeface="Cambria"/>
              </a:rPr>
              <a:t>CI/CD &amp; IaC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4023360"/>
            <a:ext cx="19659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22222"/>
                </a:solidFill>
                <a:latin typeface="Calibri"/>
              </a:rPr>
              <a:t>Git-triggered pipeline, Helm charts, infra-as-code for all envs.</a:t>
            </a:r>
          </a:p>
        </p:txBody>
      </p:sp>
      <p:sp>
        <p:nvSpPr>
          <p:cNvPr id="24" name="Oval 23"/>
          <p:cNvSpPr/>
          <p:nvPr/>
        </p:nvSpPr>
        <p:spPr>
          <a:xfrm>
            <a:off x="9189720" y="2999232"/>
            <a:ext cx="457200" cy="4572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587752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Cambria"/>
              </a:rPr>
              <a:t>Wk 7–8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56616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0E2841"/>
                </a:solidFill>
                <a:latin typeface="Cambria"/>
              </a:rPr>
              <a:t>Scale &amp; 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023360"/>
            <a:ext cx="19659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22222"/>
                </a:solidFill>
                <a:latin typeface="Calibri"/>
              </a:rPr>
              <a:t>Autoscaling, monitoring dashboards, load testing, final review.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0D728E0-F117-3AFA-E609-FA37308913E1}"/>
              </a:ext>
            </a:extLst>
          </p:cNvPr>
          <p:cNvSpPr/>
          <p:nvPr/>
        </p:nvSpPr>
        <p:spPr>
          <a:xfrm>
            <a:off x="2657121" y="391232"/>
            <a:ext cx="6303999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and Project Plan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642EE3-7CE5-B9E2-B52C-CAE734591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2283"/>
          </a:xfrm>
          <a:solidFill>
            <a:srgbClr val="C00000"/>
          </a:solidFill>
        </p:spPr>
        <p:txBody>
          <a:bodyPr>
            <a:normAutofit/>
          </a:bodyPr>
          <a:lstStyle/>
          <a:p>
            <a:pPr algn="ctr"/>
            <a:r>
              <a:rPr lang="en-GB" sz="5200" dirty="0">
                <a:solidFill>
                  <a:schemeClr val="bg1"/>
                </a:solidFill>
              </a:rPr>
              <a:t>OUTPUT</a:t>
            </a:r>
            <a:endParaRPr lang="en-IN" sz="52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65D07E-6806-4467-FB36-6FC06F82D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34" y="2595716"/>
            <a:ext cx="5828261" cy="30940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EB6C21C-8E90-9D45-B893-E3824CAC7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505" y="2595716"/>
            <a:ext cx="5828261" cy="30648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071AAD-A4AB-7FC2-C31E-E67F7813A212}"/>
              </a:ext>
            </a:extLst>
          </p:cNvPr>
          <p:cNvSpPr txBox="1"/>
          <p:nvPr/>
        </p:nvSpPr>
        <p:spPr>
          <a:xfrm>
            <a:off x="176059" y="1711896"/>
            <a:ext cx="426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Manager dashboard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5088E0-98DA-6550-6E76-7D12B7117780}"/>
              </a:ext>
            </a:extLst>
          </p:cNvPr>
          <p:cNvSpPr txBox="1"/>
          <p:nvPr/>
        </p:nvSpPr>
        <p:spPr>
          <a:xfrm>
            <a:off x="6182505" y="1711896"/>
            <a:ext cx="426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Employee dashboard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1622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857</Words>
  <Application>Microsoft Office PowerPoint</Application>
  <PresentationFormat>Widescreen</PresentationFormat>
  <Paragraphs>147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Calibri Light</vt:lpstr>
      <vt:lpstr>Cambria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OUTPUT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Pasupuleti Moukshitha</cp:lastModifiedBy>
  <cp:revision>37</cp:revision>
  <dcterms:created xsi:type="dcterms:W3CDTF">2026-08-08T06:33:56Z</dcterms:created>
  <dcterms:modified xsi:type="dcterms:W3CDTF">2026-10-27T12:45:04Z</dcterms:modified>
</cp:coreProperties>
</file>